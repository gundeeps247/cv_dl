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20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1DD0-FBC3-0BCC-654F-9DBBF384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E2D80-62D0-73F8-DAE4-F5DE61804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B269C-4D83-AB9F-FCF3-2386C1C2F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FC012-26B6-AA4F-F2FA-F5D9C5F64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0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78B57-BECA-3697-FE56-71688DD5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AA5E0-9FD4-3B31-0A01-4B0068B9F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93DEB-17F4-2F3C-8A04-CFA5BE8FA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DE09F-BE92-547B-3E31-368361517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97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7665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 This Thing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8D9E6"/>
                </a:solidFill>
              </a:rPr>
              <a:t>Efficient Point-Prompted Object Segmentation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Why this project: testing whether a recent CVPR model is not only accurate, but fast, robust and useful from one click.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E8"/>
                </a:solidFill>
              </a:rPr>
              <a:t>Reproduction • Evaluation • Robustness • Extension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074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Gundeep Singh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Aditya Bakhale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Raghavendra Prasad Shetti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1996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8" name="Image 0" descr="/mnt/data/cvdl_extract/cv_dl project/qualitative_result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643821"/>
            <a:ext cx="4114800" cy="55246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PROJECT RATIONALE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this project about: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5943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62500" lnSpcReduction="20000"/>
          </a:bodyPr>
          <a:lstStyle/>
          <a:p>
            <a:r>
              <a:rPr lang="en-GB" sz="20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built an external evaluation and reliability framework around a recent pretrained segmentation model. </a:t>
            </a:r>
          </a:p>
          <a:p>
            <a:endParaRPr lang="en-GB" sz="2000" b="1" dirty="0">
              <a:solidFill>
                <a:srgbClr val="1420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GB" sz="20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reproduced STT-B, adapted it to an external dataset, evaluated its quality and efficiency, stress-tested its prompt and image robustness, compared it with SAM under a controlled protocol, investigated whether its confidence predicts failures, and extended its masks into geometric object measurements.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53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LOGIC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539496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Single-point segmentation is intuitive for annotation and interactive tools.
• STT-B is recent, research-backed, and has official code/checkpoint.
• Its efficiency claim is testable against a known baseline: SAM ViT-B.
• The same outputs support accuracy, robustness, confidence, and object-measurement analysis.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44805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NEED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75120" y="1920240"/>
            <a:ext cx="4480560" cy="548640"/>
          </a:xfrm>
          <a:prstGeom prst="rect">
            <a:avLst/>
          </a:prstGeom>
          <a:solidFill>
            <a:srgbClr val="E7F3EF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click → target object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675120" y="2743200"/>
            <a:ext cx="44805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NEED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75120" y="2971800"/>
            <a:ext cx="4480560" cy="54864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 + reliability, not only IoU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675120" y="3794760"/>
            <a:ext cx="44805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NEED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75120" y="4023360"/>
            <a:ext cx="4480560" cy="54864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response on limited GPU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675120" y="5074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</a:rPr>
              <a:t>Core framing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75120" y="5349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42033"/>
                </a:solidFill>
              </a:rPr>
              <a:t>Segmentation is useful only when the mask is good enough, the system is fast enough, and failures can be understood.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REPRODUCTION TARGET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STT-B promised 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81328"/>
            <a:ext cx="5943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STT-B uses foveated tokenization: more detail near the user point and cheaper representation farther away. That made it ideal for our question: can we trade a small amount of accuracy for much faster interactive segmentation?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2880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REPRODUCED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539496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Official STT-B pretrained checkpoint.
• Official predictor and foveation configuration.
• Inference-only evaluation; no retraining or fine-tuning.
• Best mask selected using the model's predicted-IoU output.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517904"/>
            <a:ext cx="1554480" cy="292608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3"/>
                </a:solidFill>
              </a:rPr>
              <a:t>Image + point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1517904"/>
            <a:ext cx="22860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8"/>
                </a:solidFill>
              </a:rPr>
              <a:t>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0920" y="1865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F91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267712"/>
            <a:ext cx="1554480" cy="292608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3"/>
                </a:solidFill>
              </a:rPr>
              <a:t>Foveator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267712"/>
            <a:ext cx="22860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8"/>
                </a:solidFill>
              </a:rPr>
              <a:t>multi-scale tokens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0920" y="2615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F91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017520"/>
            <a:ext cx="1554480" cy="292608"/>
          </a:xfrm>
          <a:prstGeom prst="rect">
            <a:avLst/>
          </a:prstGeom>
          <a:solidFill>
            <a:srgbClr val="E4F1F7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3"/>
                </a:solidFill>
              </a:rPr>
              <a:t>STT-B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3017520"/>
            <a:ext cx="22860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8"/>
                </a:solidFill>
              </a:rPr>
              <a:t>segmentation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33649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F91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767328"/>
            <a:ext cx="1554480" cy="292608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3"/>
                </a:solidFill>
              </a:rPr>
              <a:t>Candidates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3767328"/>
            <a:ext cx="22860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8"/>
                </a:solidFill>
              </a:rPr>
              <a:t>masks + scores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4114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F91"/>
                </a:solidFill>
              </a:rPr>
              <a:t>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517136"/>
            <a:ext cx="1554480" cy="292608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3"/>
                </a:solidFill>
              </a:rPr>
              <a:t>Best mask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517136"/>
            <a:ext cx="22860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E5E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8"/>
                </a:solidFill>
              </a:rPr>
              <a:t>highest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5440680"/>
            <a:ext cx="4480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foveation: token size 16; strides [1,2,4,6,8]; grid sizes [4,4,6,8,10].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042C5-D6A3-D572-F69B-3AFDD9C3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A27B1D-4741-3694-8C17-C841816145C5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B75675-F077-8885-4140-0DEDF9AB2D9A}"/>
              </a:ext>
            </a:extLst>
          </p:cNvPr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REPRODUCTION TARGET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188F33-8880-27D5-ED32-62C152E91BF2}"/>
              </a:ext>
            </a:extLst>
          </p:cNvPr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/>
              <a:t>Project architecture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AAA02F-097A-8B7E-F2B0-2F2C82913ABD}"/>
              </a:ext>
            </a:extLst>
          </p:cNvPr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BAD141-A327-B864-C557-41E40FE10548}"/>
              </a:ext>
            </a:extLst>
          </p:cNvPr>
          <p:cNvSpPr/>
          <p:nvPr/>
        </p:nvSpPr>
        <p:spPr>
          <a:xfrm>
            <a:off x="594360" y="1481328"/>
            <a:ext cx="5943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8F0D718-0C28-B5EB-52BD-E06172F8826C}"/>
              </a:ext>
            </a:extLst>
          </p:cNvPr>
          <p:cNvSpPr/>
          <p:nvPr/>
        </p:nvSpPr>
        <p:spPr>
          <a:xfrm>
            <a:off x="7360920" y="1865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EA2CF6-BD6A-BA2A-9E2B-DDFD8E68889D}"/>
              </a:ext>
            </a:extLst>
          </p:cNvPr>
          <p:cNvSpPr/>
          <p:nvPr/>
        </p:nvSpPr>
        <p:spPr>
          <a:xfrm>
            <a:off x="7360920" y="2615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DCD6304-186E-3BF5-CFC6-FB8B5CFD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48" y="1513059"/>
            <a:ext cx="9479902" cy="51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3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2C080-B062-9F82-7834-92B665A1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D7E530-B140-3186-5222-16A455E4D38A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389A74-D846-678E-5E9F-2F19575058AB}"/>
              </a:ext>
            </a:extLst>
          </p:cNvPr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REPRODUCTION TARGET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8DE800-83B6-873D-EA16-F5772A94443B}"/>
              </a:ext>
            </a:extLst>
          </p:cNvPr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/>
              <a:t>What our project architecture: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0F39FC-625B-E20F-D551-DAD9910165E7}"/>
              </a:ext>
            </a:extLst>
          </p:cNvPr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1FD9D5-1AAE-B482-0821-916922CF38DC}"/>
              </a:ext>
            </a:extLst>
          </p:cNvPr>
          <p:cNvSpPr/>
          <p:nvPr/>
        </p:nvSpPr>
        <p:spPr>
          <a:xfrm>
            <a:off x="594360" y="1481328"/>
            <a:ext cx="5943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8960C4A-9DEE-C74D-47C4-BAA61243AF3A}"/>
              </a:ext>
            </a:extLst>
          </p:cNvPr>
          <p:cNvSpPr/>
          <p:nvPr/>
        </p:nvSpPr>
        <p:spPr>
          <a:xfrm>
            <a:off x="7360920" y="1865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05755D-055A-1B2A-A904-A752EBBEE32B}"/>
              </a:ext>
            </a:extLst>
          </p:cNvPr>
          <p:cNvSpPr/>
          <p:nvPr/>
        </p:nvSpPr>
        <p:spPr>
          <a:xfrm>
            <a:off x="7360920" y="2615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BEC302-D738-3E2E-8186-AC17D6B1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62458"/>
            <a:ext cx="11330162" cy="516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54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METHOD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project was built around that choice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experiment answers one part of the same project rationale: quality, speed, robustness, reliability, and whether the mask becomes useful data.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304288"/>
            <a:ext cx="1051560" cy="594360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033"/>
                </a:solidFill>
              </a:rPr>
              <a:t>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6F91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65960" y="2304288"/>
            <a:ext cx="1051560" cy="594360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033"/>
                </a:solidFill>
              </a:rPr>
              <a:t>GT mask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4963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6F91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2304288"/>
            <a:ext cx="1051560" cy="594360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033"/>
                </a:solidFill>
              </a:rPr>
              <a:t>Point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4963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6F91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1051560" cy="594360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033"/>
                </a:solidFill>
              </a:rPr>
              <a:t>Preprocess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4963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6F91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2304288"/>
            <a:ext cx="1051560" cy="594360"/>
          </a:xfrm>
          <a:prstGeom prst="rect">
            <a:avLst/>
          </a:prstGeom>
          <a:solidFill>
            <a:srgbClr val="E4F1F7"/>
          </a:solidFill>
          <a:ln>
            <a:solidFill>
              <a:srgbClr val="2D6F9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033"/>
                </a:solidFill>
              </a:rPr>
              <a:t>STT-B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24963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6F91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2304288"/>
            <a:ext cx="1051560" cy="594360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033"/>
                </a:solidFill>
              </a:rPr>
              <a:t>Best mask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81160" y="24963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6F91"/>
                </a:solidFill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0" y="2304288"/>
            <a:ext cx="1051560" cy="594360"/>
          </a:xfrm>
          <a:prstGeom prst="rect">
            <a:avLst/>
          </a:prstGeom>
          <a:solidFill>
            <a:srgbClr val="EEF3F7"/>
          </a:solidFill>
          <a:ln>
            <a:solidFill>
              <a:srgbClr val="DDE5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033"/>
                </a:solidFill>
              </a:rPr>
              <a:t>Evaluate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ANALYSIS BRANCHES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4005072"/>
            <a:ext cx="3383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4233672"/>
            <a:ext cx="3383280" cy="73152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IoU • Dice • Precision • Recall • Boundary F1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4389120" y="4005072"/>
            <a:ext cx="3383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0" y="4233672"/>
            <a:ext cx="3383280" cy="731520"/>
          </a:xfrm>
          <a:prstGeom prst="rect">
            <a:avLst/>
          </a:prstGeom>
          <a:solidFill>
            <a:srgbClr val="E7F3EF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runtime • E2E runtime • FPS • GPU memory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092440" y="4005072"/>
            <a:ext cx="3383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92440" y="4233672"/>
            <a:ext cx="3383280" cy="73152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area • perimeter • bbox • occupancy • errors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685800" y="5833872"/>
            <a:ext cx="7863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protocol: 499 valid main images; 100 paired samples for robustness and STT-vs-SAM.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EXPERIMENTAL SETUP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exactly was tested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331720" cy="73152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Oxford-IIIT Pet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3,669 test images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246120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EVAL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2331720" cy="731520"/>
          </a:xfrm>
          <a:prstGeom prst="rect">
            <a:avLst/>
          </a:prstGeom>
          <a:solidFill>
            <a:srgbClr val="E7F3EF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499 valid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 sampled, 1 skipped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806440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06440" y="1874520"/>
            <a:ext cx="2331720" cy="73152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paired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prompts + 5 degradations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66760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366760" y="1874520"/>
            <a:ext cx="2331720" cy="73152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paired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STT-B vs SAM ViT-B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31520" y="3127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CHOICES THAT MATTER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3502152"/>
            <a:ext cx="612648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Trimap label 1 treated as foreground; labels 2/3 as non-foreground.
• Small images upscaled so the short side reaches at least 1280 px, then predictions are mapped back.
• Deepest-interior point used for the predetermined main evaluation.
• Tesla T4 GPU; official STT-B checkpoint; no training or fine-tuning.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3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06640" y="3611880"/>
            <a:ext cx="3840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protocol keeps the project defensible: we evaluate a released research model under documented conditions rather than tuning the setup until the numbers look best.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MAIN RESULT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and precise, but not boundary-perfect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IOU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03120" cy="77724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0.607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0.584–0.628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971800" y="160020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71800" y="1828800"/>
            <a:ext cx="2103120" cy="77724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0.715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0.692–0.736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57800" y="160020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57800" y="1828800"/>
            <a:ext cx="2103120" cy="777240"/>
          </a:xfrm>
          <a:prstGeom prst="rect">
            <a:avLst/>
          </a:prstGeom>
          <a:solidFill>
            <a:srgbClr val="E7F3EF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0.855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0.846–0.864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543800" y="160020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43800" y="1828800"/>
            <a:ext cx="2103120" cy="77724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0.723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0.694–0.749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F1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2103120" cy="777240"/>
          </a:xfrm>
          <a:prstGeom prst="rect">
            <a:avLst/>
          </a:prstGeom>
          <a:solidFill>
            <a:srgbClr val="F7EDED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B54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0.095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B54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0.088–0.102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71800" y="324612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RUNTIME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71800" y="3474720"/>
            <a:ext cx="2103120" cy="777240"/>
          </a:xfrm>
          <a:prstGeom prst="rect">
            <a:avLst/>
          </a:prstGeom>
          <a:solidFill>
            <a:srgbClr val="E7F3EF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0.093 s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~11 FPS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257800" y="324612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MEMORY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57800" y="3474720"/>
            <a:ext cx="2103120" cy="777240"/>
          </a:xfrm>
          <a:prstGeom prst="rect">
            <a:avLst/>
          </a:prstGeom>
          <a:solidFill>
            <a:srgbClr val="E7F3EF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0.397 GB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 peak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543800" y="324612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ERROR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43800" y="3474720"/>
            <a:ext cx="2103120" cy="77724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34.85%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 GT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9326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point of the model: strong foreground precision and fast response. 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Limitation: the object boundary/shape is the hard part.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08• VISUAL EVIDENCE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masks actually look like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pic>
        <p:nvPicPr>
          <p:cNvPr id="6" name="Image 0" descr="/mnt/data/cvdl_extract/cv_dl project/qualitative_result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42" y="1417320"/>
            <a:ext cx="3643636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645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NOTICE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543800" y="2029968"/>
            <a:ext cx="37490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Several examples produce usable full-object masks around IoU ≈ 0.73–0.85.
• One displayed case collapses to a tiny mask: IoU ≈ 0.024.
• This supports the reliability story: averages hide catastrophic cases.
• Keep this figure: it explains the project faster than text.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43800" y="4846320"/>
            <a:ext cx="3657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STT-B can be very useful when it works, but the failures are important enough to analyze.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ACCURACY–EFFICIENCY TRADE-OFF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STT-B was worth evaluating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pic>
        <p:nvPicPr>
          <p:cNvPr id="6" name="Image 0" descr="/mnt/data/cvdl_extract/cv_dl project/stt_vs_sam_i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21823"/>
            <a:ext cx="4754880" cy="2717074"/>
          </a:xfrm>
          <a:prstGeom prst="rect">
            <a:avLst/>
          </a:prstGeom>
        </p:spPr>
      </p:pic>
      <p:pic>
        <p:nvPicPr>
          <p:cNvPr id="7" name="Image 1" descr="/mnt/data/cvdl_extract/cv_dl project/stt_vs_sam_run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521823"/>
            <a:ext cx="4754880" cy="27170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470916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STT-B IOU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68680" y="4937760"/>
            <a:ext cx="2057400" cy="50292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0.631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3108960" y="470916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 IOU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108960" y="4937760"/>
            <a:ext cx="2057400" cy="502920"/>
          </a:xfrm>
          <a:prstGeom prst="rect">
            <a:avLst/>
          </a:prstGeom>
          <a:solidFill>
            <a:srgbClr val="EEF3F7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F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0.672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989320" y="470916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STT-B FPS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89320" y="4937760"/>
            <a:ext cx="2057400" cy="502920"/>
          </a:xfrm>
          <a:prstGeom prst="rect">
            <a:avLst/>
          </a:prstGeom>
          <a:solidFill>
            <a:srgbClr val="E7F3EF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8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13.54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8229600" y="470916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 FPS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229600" y="4937760"/>
            <a:ext cx="2057400" cy="50292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2.28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868680" y="5879592"/>
            <a:ext cx="97840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 is slightly more accurate; STT-B is much faster. This is exactly the project question: not a universal winner, but a useful trade-off.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PROMPT SENSITIVITY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user click is part of the system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pic>
        <p:nvPicPr>
          <p:cNvPr id="6" name="Image 0" descr="/mnt/data/cvdl_extract/cv_dl project/prompt_robustness_i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4540"/>
            <a:ext cx="521208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RESULT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92240" y="2057400"/>
            <a:ext cx="42062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Centroid prompt: IoU 0.650 — strongest in this ablation.
• Deepest interior: 0.616.
• Random and boundary: ≈0.532 each.
• Point location materially changes segmentation quality.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4663440"/>
            <a:ext cx="4114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belongs in the project: real interactive systems depend on users, not just architecture.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IMAGE ROBUSTNESS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when input quality changes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pic>
        <p:nvPicPr>
          <p:cNvPr id="6" name="Image 0" descr="/mnt/data/cvdl_extract/cv_dl project/degradation_robustness_i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4540"/>
            <a:ext cx="521208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 RESULT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92240" y="2057400"/>
            <a:ext cx="42062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Original IoU: 0.616.
• Dark: 0.629; low-res: 0.608; blur: 0.600.
• Bright: 0.574 — largest mean drop.
• The model is not equally sensitive to all image changes.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4663440"/>
            <a:ext cx="4114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supports the choice of project because it goes beyond clean benchmark accuracy into stress testing.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F91"/>
          </a:solidFill>
          <a:ln w="12700">
            <a:solidFill>
              <a:srgbClr val="2D6F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RELIABILITY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 helps, but does not guarantee correctness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pic>
        <p:nvPicPr>
          <p:cNvPr id="6" name="Image 0" descr="/mnt/data/cvdl_extract/cv_dl project/confidence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63040"/>
            <a:ext cx="466344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55448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LOW-IOU FAILURES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0" y="1783080"/>
            <a:ext cx="2103120" cy="731520"/>
          </a:xfrm>
          <a:prstGeom prst="rect">
            <a:avLst/>
          </a:prstGeom>
          <a:solidFill>
            <a:srgbClr val="F7EDED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B54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 / 499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B54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IoU &lt; 0.25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823960" y="155448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FAILURES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823960" y="1783080"/>
            <a:ext cx="2103120" cy="731520"/>
          </a:xfrm>
          <a:prstGeom prst="rect">
            <a:avLst/>
          </a:prstGeom>
          <a:solidFill>
            <a:srgbClr val="F7EDED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B54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 / 499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B54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score, poor mask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400800" y="288036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CORR.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00800" y="3108960"/>
            <a:ext cx="2103120" cy="73152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0.518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vs actual IoU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823960" y="288036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ERROR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823960" y="3108960"/>
            <a:ext cx="2103120" cy="731520"/>
          </a:xfrm>
          <a:prstGeom prst="rect">
            <a:avLst/>
          </a:prstGeom>
          <a:solidFill>
            <a:srgbClr val="FFF4E4"/>
          </a:solidFill>
          <a:ln>
            <a:solidFill>
              <a:srgbClr val="D9E2EA">
                <a:alpha val="80000"/>
              </a:srgbClr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34.85% area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D69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27.06% perimeter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400800" y="4800600"/>
            <a:ext cx="44805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 the model is fast and useful, but reliability inspection is necessary before trusting every mask.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2377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</a:t>
            </a:r>
            <a:r>
              <a:rPr lang="en-US" sz="800" b="1" dirty="0" err="1">
                <a:solidFill>
                  <a:srgbClr val="B8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Conlusion</a:t>
            </a:r>
            <a:r>
              <a:rPr lang="en-US" sz="800" b="1" dirty="0">
                <a:solidFill>
                  <a:srgbClr val="B8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&amp; Future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3976" y="658368"/>
            <a:ext cx="819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B8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Conlusion  &amp; Future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960120" cy="0"/>
          </a:xfrm>
          <a:prstGeom prst="line">
            <a:avLst/>
          </a:prstGeom>
          <a:noFill/>
          <a:ln w="50800">
            <a:solidFill>
              <a:srgbClr val="64A6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4462272"/>
            <a:ext cx="4389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6190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E8"/>
                </a:solidFill>
              </a:rPr>
              <a:t>Gundeep Singh • Aditya Bakhale • Raghavendra Prasad Shetti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BE0D73-DA38-749C-99DE-8CE9AF5D6637}"/>
              </a:ext>
            </a:extLst>
          </p:cNvPr>
          <p:cNvSpPr txBox="1"/>
          <p:nvPr/>
        </p:nvSpPr>
        <p:spPr>
          <a:xfrm>
            <a:off x="502920" y="1706355"/>
            <a:ext cx="26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Final conclusion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701B91-D2D2-DBE7-39F9-95C2EFC34263}"/>
              </a:ext>
            </a:extLst>
          </p:cNvPr>
          <p:cNvSpPr txBox="1"/>
          <p:nvPr/>
        </p:nvSpPr>
        <p:spPr>
          <a:xfrm>
            <a:off x="411481" y="2075687"/>
            <a:ext cx="38806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STT-B is a strong efficiency-focused segmentation model for fast point-prompted interaction. It is not pixel-perfect, but it is useful when speed, simplicity and interpretable failure analysis matter.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C0074-39B7-0441-6F9F-ECA35058C7F5}"/>
              </a:ext>
            </a:extLst>
          </p:cNvPr>
          <p:cNvSpPr txBox="1"/>
          <p:nvPr/>
        </p:nvSpPr>
        <p:spPr>
          <a:xfrm>
            <a:off x="6615405" y="1452107"/>
            <a:ext cx="157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Future Scope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6E61A-6A3C-E7BB-30B6-3D34B537F055}"/>
              </a:ext>
            </a:extLst>
          </p:cNvPr>
          <p:cNvSpPr txBox="1"/>
          <p:nvPr/>
        </p:nvSpPr>
        <p:spPr>
          <a:xfrm>
            <a:off x="5971592" y="1792225"/>
            <a:ext cx="4460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Fine-tuning + better boundary accuracy</a:t>
            </a:r>
          </a:p>
          <a:p>
            <a:r>
              <a:rPr lang="en-GB" b="1" dirty="0">
                <a:solidFill>
                  <a:schemeClr val="bg1"/>
                </a:solidFill>
              </a:rPr>
              <a:t>Better prompt selection + multi-click correction</a:t>
            </a:r>
          </a:p>
          <a:p>
            <a:r>
              <a:rPr lang="en-GB" b="1" dirty="0">
                <a:solidFill>
                  <a:schemeClr val="bg1"/>
                </a:solidFill>
              </a:rPr>
              <a:t>Confidence calibration + testing on more datasets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1110</Words>
  <Application>Microsoft Office PowerPoint</Application>
  <PresentationFormat>Widescreen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 This Thing Final Project Presentation</dc:title>
  <dc:subject>STT-B Project Presentation</dc:subject>
  <dc:creator>OpenAI</dc:creator>
  <cp:lastModifiedBy>Raghavendra Prasad Shetti</cp:lastModifiedBy>
  <cp:revision>5</cp:revision>
  <dcterms:created xsi:type="dcterms:W3CDTF">2026-08-19T18:21:32Z</dcterms:created>
  <dcterms:modified xsi:type="dcterms:W3CDTF">2026-08-20T11:30:38Z</dcterms:modified>
</cp:coreProperties>
</file>